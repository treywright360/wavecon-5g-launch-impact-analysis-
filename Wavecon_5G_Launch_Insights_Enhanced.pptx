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47AB"/>
                </a:solidFill>
              </a:defRPr>
            </a:pPr>
            <a:r>
              <a:t>Wavecon 5G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5722"/>
                </a:solidFill>
              </a:defRPr>
            </a:pPr>
            <a:r>
              <a:t>Revenue Impact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Presented to: Hem | Head of Data Analytics, AtliQ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Analyst: Theada Wright | CodeBasics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47AB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Wavecon launched 5G services with high expectations for revenue growth. However, initial reports suggest mixed results across different markets.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722"/>
                </a:solidFill>
              </a:defRPr>
            </a:pPr>
            <a:r>
              <a:t>Key Questions to Answer: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What is the impact of the 5G launch on revenue?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Which KPIs are underperforming post-launch?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Which plans/markets are performing well vs. poorly?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Should any plans be continued or discontinued?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• What strategic actions should Wavecon take?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47AB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926080" cy="137160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₹31.9B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2926080" cy="1371600"/>
          </a:xfrm>
          <a:prstGeom prst="roundRect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Revenue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-0.50%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71600"/>
            <a:ext cx="2926080" cy="137160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ARPU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₹200.7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1371600"/>
            <a:ext cx="2926080" cy="137160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Active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011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161.7M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722"/>
                </a:solidFill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Revenue declined by 0.50% (₹16.0B → ₹15.9B) post-5G launch. Geographic disparities exist with Chennai (-2.99%) and Delhi (-2.83%) showing significant declines, while tier-2 cities like Lucknow (+1.82%) demonstrate strong growth potential.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7AB"/>
                </a:solidFill>
              </a:defRPr>
            </a:pPr>
            <a:r>
              <a:t>Strategic Focus Areas: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Immediate investigation required in Chennai and Delhi markets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8932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Replicate success strategies from Lucknow and Ghaziabad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4008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Customer retention programs to address 12.6M unsubscribed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47AB"/>
                </a:solidFill>
              </a:defRPr>
            </a:pPr>
            <a:r>
              <a:t>Q1: Revenue Impact of 5G Launch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3657600" cy="164592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Before 5G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₹16.0B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3657600" cy="1645920"/>
          </a:xfrm>
          <a:prstGeom prst="roundRect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After 5G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₹15.9B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645920"/>
            <a:ext cx="3657600" cy="1645920"/>
          </a:xfrm>
          <a:prstGeom prst="roundRect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Revenue Decline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286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-₹0.1B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722"/>
                </a:solidFill>
              </a:defRPr>
            </a:pPr>
            <a:r>
              <a:t>Analysis: Why the Decline?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1. Customer Migration: Users switching from premium 4G plans to lower-priced 5G intro plans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2. Market Cannibalization: 5G plans eating into existing revenue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864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3. Competitive Pressure: Rivals offering aggressive 5G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436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4. Transition Period: Market adjustment phase as customers evaluate 5G value proposition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8580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4A19"/>
                </a:solidFill>
              </a:defRPr>
            </a:pPr>
            <a:r>
              <a:t>⚠ CRITICAL: Revenue decline indicates pricing strategy needs immediate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47AB"/>
                </a:solidFill>
              </a:defRPr>
            </a:pPr>
            <a:r>
              <a:t>Q2: KPI Performance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3200400" cy="1463040"/>
          </a:xfrm>
          <a:prstGeom prst="roundRect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Revenue Change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-0.50%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3200400" cy="146304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Active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161.7M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45920"/>
            <a:ext cx="3200400" cy="146304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ARPU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₹200.7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474720"/>
            <a:ext cx="3200400" cy="1463040"/>
          </a:xfrm>
          <a:prstGeom prst="roundRect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Unsubscribed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12.6M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474720"/>
            <a:ext cx="3200400" cy="146304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749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Monthly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₹4.0B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474720"/>
            <a:ext cx="3200400" cy="1463040"/>
          </a:xfrm>
          <a:prstGeom prst="roundRect">
            <a:avLst/>
          </a:prstGeom>
          <a:solidFill>
            <a:srgbClr val="0047AB"/>
          </a:solidFill>
          <a:ln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749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₹31.9B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4A19"/>
                </a:solidFill>
              </a:defRPr>
            </a:pPr>
            <a:r>
              <a:t>Primary Underperforming KPI: Revenue Change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21792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Negative revenue growth contradicts 5G launch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58368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Customer spending patterns have shifted unfavorably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94944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Plan pricing strategy requires urgent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315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• Competitive positioning may be weaker than anticipated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47AB"/>
                </a:solidFill>
              </a:defRPr>
            </a:pPr>
            <a:r>
              <a:t>Q3: Market Performance - Declining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5722"/>
                </a:solidFill>
              </a:defRPr>
            </a:pPr>
            <a:r>
              <a:t>Cities with Negative Revenue Growth Post-5G Launch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Chennai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4A19"/>
                </a:solidFill>
              </a:defRPr>
            </a:pPr>
            <a:r>
              <a:t>-2.99%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₹1.501B → After: ₹1.457B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Major metro - Highest decline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Delhi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4A19"/>
                </a:solidFill>
              </a:defRPr>
            </a:pPr>
            <a:r>
              <a:t>-2.83%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₹1.964B → After: ₹1.908B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Capital market - Critical concern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Ahmedabad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4A19"/>
                </a:solidFill>
              </a:defRPr>
            </a:pPr>
            <a:r>
              <a:t>-2.53%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₹0.943B → After: ₹0.916B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Tier-1 city - Needs attention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Hyderabad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754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4A19"/>
                </a:solidFill>
              </a:defRPr>
            </a:pPr>
            <a:r>
              <a:t>-1.29%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₹1.185B → After: ₹1.171B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Tech hub - Moderate decline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Kolkata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577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64A19"/>
                </a:solidFill>
              </a:defRPr>
            </a:pPr>
            <a:r>
              <a:t>-0.37%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₹1.925B → After: ₹1.918B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Stable but declining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132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4A19"/>
                </a:solidFill>
              </a:defRPr>
            </a:pPr>
            <a:r>
              <a:t>⚠ ACTION REQUIRED: Deep-dive analysis needed in Chennai &amp; Delhi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47AB"/>
                </a:solidFill>
              </a:defRPr>
            </a:pPr>
            <a:r>
              <a:t>Q3: Market Performance - Growing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E7D32"/>
                </a:solidFill>
              </a:defRPr>
            </a:pPr>
            <a:r>
              <a:t>Cities with Positive Revenue Growth Post-5G Launch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Lucknow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7D32"/>
                </a:solidFill>
              </a:defRPr>
            </a:pPr>
            <a:r>
              <a:t>+1.82%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₹0.648B → After: ₹0.660B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Tier-2 city - Best performer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Gurgaon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7D32"/>
                </a:solidFill>
              </a:defRPr>
            </a:pPr>
            <a:r>
              <a:t>+1.51%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₹0.271B → After: ₹0.275B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NCR region - Strong growth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Ghaziabad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7D32"/>
                </a:solidFill>
              </a:defRPr>
            </a:pPr>
            <a:r>
              <a:t>+1.42%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₹0.467B → After: ₹0.495B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Emerging market success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Raipur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754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7D32"/>
                </a:solidFill>
              </a:defRPr>
            </a:pPr>
            <a:r>
              <a:t>+1.15%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₹0.157B → After: ₹0.158B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Smaller market - Positive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Jaipur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577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7D32"/>
                </a:solidFill>
              </a:defRPr>
            </a:pPr>
            <a:r>
              <a:t>+0.98%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Before: ₹0.751B → After: ₹0.736B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Tier-2 capital - Growing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132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</a:defRPr>
            </a:pPr>
            <a:r>
              <a:t>✓ KEY INSIGHT: Tier-2 cities showing stronger 5G adoption than tier-1 metros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47AB"/>
                </a:solidFill>
              </a:defRPr>
            </a:pPr>
            <a:r>
              <a:t>Q4 &amp; Q5: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</a:defRPr>
            </a:pPr>
            <a:r>
              <a:t>Decision: CONTINUE All Markets with Strategic Adjustments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No plans should be discontinued. All markets have strategic value and recovery potential.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722"/>
                </a:solidFill>
              </a:defRPr>
            </a:pPr>
            <a:r>
              <a:t>Immediate Actions (0-30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1. Deep-dive Chennai &amp; Delhi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Conduct customer surveys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Analyze competitor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Review plan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2. Study Success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Document Lucknow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Identify replicable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39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Prepare rollout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722"/>
                </a:solidFill>
              </a:defRPr>
            </a:pPr>
            <a:r>
              <a:t>Medium-Term Actions (1-3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91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1. Market-Specific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566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Customize plans for 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Launch retention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114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Partner with local businesses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7724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2. Optimize Plan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9377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Consolidate low performers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2120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Introduce targeted 5G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8639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   • Bundle complementary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7AB"/>
                </a:solidFill>
              </a:defRPr>
            </a:pPr>
            <a:r>
              <a:t>Long-Term Goals (3-6 Months)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49224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Revenue Recovery: Return to positive growth, exceed pre-5G revenue levels by 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8580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Market Leadership: Establish 5G competitive advantage, improve market share in key 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72237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Customer Experience: Enhance network quality, improve service, create differentiated offerings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47AB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4A19"/>
                </a:solidFill>
              </a:defRPr>
            </a:pPr>
            <a: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Revenue: -0.50% decline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Critical markets struggling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12.6M user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Mixed geographic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</a:defRPr>
            </a:pPr>
            <a:r>
              <a:t>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Strong tier-2 city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161.7M active user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834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Market leadership potential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154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Replicable success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5722"/>
                </a:solidFill>
              </a:defRPr>
            </a:pPr>
            <a:r>
              <a:t>Priority Actions - Next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1. Launch Chennai &amp; Delhi recovery task force - immediate market research and action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578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2. Document and replicate Lucknow success strategy across similar tier-2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3. Implement weekly KPI tracking dashboard for real-time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807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4. Initiate customer retention program targeting 12.6M unsubscribed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49224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5. Review and adjust pricing strategy based on competitive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132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Expected Outcome: Return to positive revenue growth within Q2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